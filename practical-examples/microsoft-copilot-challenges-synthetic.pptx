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doption.microsoft.com/en-us/microsoft-security-copilot/" TargetMode="External"/><Relationship Id="rId3" Type="http://schemas.openxmlformats.org/officeDocument/2006/relationships/hyperlink" Target="https://learn-video.azurefd.net/vod/player?id=257c1a95-04fb-422e-add2-51e91388ae5f" TargetMode="External"/><Relationship Id="rId4" Type="http://schemas.openxmlformats.org/officeDocument/2006/relationships/hyperlink" Target="https://learn.microsoft.com/en-us/azure/azure-monitor/aiops/observability-agent-overview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purview/ai-microsoft-purview" TargetMode="External"/><Relationship Id="rId3" Type="http://schemas.openxmlformats.org/officeDocument/2006/relationships/hyperlink" Target="https://learn.microsoft.com/en-us/fabric/fundamentals/copilot-fabric-overview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doption.microsoft.com/en-us/microsoft-security-copilot/" TargetMode="External"/><Relationship Id="rId3" Type="http://schemas.openxmlformats.org/officeDocument/2006/relationships/hyperlink" Target="https://learn-video.azurefd.net/vod/player?id=257c1a95-04fb-422e-add2-51e91388ae5f" TargetMode="External"/><Relationship Id="rId4" Type="http://schemas.openxmlformats.org/officeDocument/2006/relationships/hyperlink" Target="https://learn.microsoft.com/en-us/copilot/security/experiences-security-copilot#embedded-experiences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doption.microsoft.com/en-us/copilot/" TargetMode="External"/><Relationship Id="rId3" Type="http://schemas.openxmlformats.org/officeDocument/2006/relationships/hyperlink" Target="https://learn.microsoft.com/en-us/microsoft-copilot-studio/fundamentals-what-is-copilot-studio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azure/migrate/azure-copilot-migration-agent?view=migrate" TargetMode="External"/><Relationship Id="rId3" Type="http://schemas.openxmlformats.org/officeDocument/2006/relationships/hyperlink" Target="https://docs.github.com/en/copilot/how-tos/use-copilot-agents/cloud-agent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azure/migrate/azure-copilot-migration-agent?view=migrate" TargetMode="External"/><Relationship Id="rId3" Type="http://schemas.openxmlformats.org/officeDocument/2006/relationships/hyperlink" Target="https://docs.github.com/en/copilot/how-tos/use-copilot-agents/cloud-agent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azure/copilot/overview" TargetMode="External"/><Relationship Id="rId3" Type="http://schemas.openxmlformats.org/officeDocument/2006/relationships/hyperlink" Target="https://learn.microsoft.com/en-us/cloud-computing/finops/toolkit/power-bi/reports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66928"/>
            <a:ext cx="621792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C7E8DD"/>
                </a:solidFill>
                <a:latin typeface="Aptos"/>
              </a:rPr>
              <a:t>Microsoft Copilot &amp; Azure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7315200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1 ou 2 agents par cas d'usage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2148840"/>
            <a:ext cx="694944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Une lecture simple: probleme, agent mobilisable, aide concrete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3246120"/>
            <a:ext cx="1013677" cy="566928"/>
          </a:xfrm>
          <a:prstGeom prst="roundRect">
            <a:avLst/>
          </a:prstGeom>
          <a:solidFill>
            <a:srgbClr val="D6E69E"/>
          </a:solidFill>
          <a:ln>
            <a:solidFill>
              <a:srgbClr val="D6E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Incidents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626325" y="3447288"/>
            <a:ext cx="128016" cy="146304"/>
          </a:xfrm>
          <a:prstGeom prst="rightArrow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81773" y="3246120"/>
            <a:ext cx="1013677" cy="566928"/>
          </a:xfrm>
          <a:prstGeom prst="roundRect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Data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49731" y="3447288"/>
            <a:ext cx="128016" cy="146304"/>
          </a:xfrm>
          <a:prstGeom prst="rightArrow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05179" y="3246120"/>
            <a:ext cx="1013677" cy="566928"/>
          </a:xfrm>
          <a:prstGeom prst="roundRect">
            <a:avLst/>
          </a:prstGeom>
          <a:solidFill>
            <a:srgbClr val="D6E69E"/>
          </a:solidFill>
          <a:ln>
            <a:solidFill>
              <a:srgbClr val="D6E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Risques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873137" y="3447288"/>
            <a:ext cx="128016" cy="146304"/>
          </a:xfrm>
          <a:prstGeom prst="rightArrow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028585" y="3246120"/>
            <a:ext cx="1013677" cy="566928"/>
          </a:xfrm>
          <a:prstGeom prst="roundRect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Projets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96542" y="3447288"/>
            <a:ext cx="128016" cy="146304"/>
          </a:xfrm>
          <a:prstGeom prst="rightArrow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51990" y="3246120"/>
            <a:ext cx="1013677" cy="566928"/>
          </a:xfrm>
          <a:prstGeom prst="roundRect">
            <a:avLst/>
          </a:prstGeom>
          <a:solidFill>
            <a:srgbClr val="D6E69E"/>
          </a:solidFill>
          <a:ln>
            <a:solidFill>
              <a:srgbClr val="D6E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Apps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119948" y="3447288"/>
            <a:ext cx="128016" cy="146304"/>
          </a:xfrm>
          <a:prstGeom prst="rightArrow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75396" y="3246120"/>
            <a:ext cx="1013677" cy="566928"/>
          </a:xfrm>
          <a:prstGeom prst="roundRect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Modernize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243354" y="3447288"/>
            <a:ext cx="128016" cy="146304"/>
          </a:xfrm>
          <a:prstGeom prst="rightArrow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98802" y="3246120"/>
            <a:ext cx="1013677" cy="566928"/>
          </a:xfrm>
          <a:prstGeom prst="roundRect">
            <a:avLst/>
          </a:prstGeom>
          <a:solidFill>
            <a:srgbClr val="D6E69E"/>
          </a:solidFill>
          <a:ln>
            <a:solidFill>
              <a:srgbClr val="D6E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Budget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681728"/>
            <a:ext cx="7863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7E8DD"/>
                </a:solidFill>
                <a:latin typeface="Aptos"/>
              </a:rPr>
              <a:t>Slides synthetiques, orientees agents et actions.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2344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8088"/>
                </a:solidFill>
                <a:latin typeface="Aptos"/>
              </a:rPr>
              <a:t>Challenge #01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46520" y="457200"/>
            <a:ext cx="21945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5C6978"/>
                </a:solidFill>
                <a:latin typeface="Aptos"/>
              </a:rPr>
              <a:t>QUALITE &amp; SECURITE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621792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22031"/>
                </a:solidFill>
                <a:latin typeface="Aptos"/>
              </a:rPr>
              <a:t>Renforcer le traitement des incidents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426464"/>
            <a:ext cx="6172200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0" b="0">
                <a:solidFill>
                  <a:srgbClr val="1F2A37"/>
                </a:solidFill>
                <a:latin typeface="Aptos"/>
              </a:rPr>
              <a:t>Unifier signaux, priorisation et reponse assistee pour reduire le temps de triage et fiabiliser les gestes de remediation.</a:t>
            </a:r>
          </a:p>
        </p:txBody>
      </p:sp>
      <p:sp>
        <p:nvSpPr>
          <p:cNvPr id="7" name="Oval 6"/>
          <p:cNvSpPr/>
          <p:nvPr/>
        </p:nvSpPr>
        <p:spPr>
          <a:xfrm>
            <a:off x="7543800" y="749808"/>
            <a:ext cx="841248" cy="841248"/>
          </a:xfrm>
          <a:prstGeom prst="ellipse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08392" y="969264"/>
            <a:ext cx="5029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22031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267712"/>
            <a:ext cx="20116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22031"/>
                </a:solidFill>
                <a:latin typeface="Aptos"/>
              </a:rPr>
              <a:t>Agents a mobiliser</a:t>
            </a:r>
          </a:p>
        </p:txBody>
      </p:sp>
      <p:sp>
        <p:nvSpPr>
          <p:cNvPr id="10" name="Rounded Rectangle 9">
            <a:hlinkClick r:id="rId2"/>
          </p:cNvPr>
          <p:cNvSpPr/>
          <p:nvPr/>
        </p:nvSpPr>
        <p:spPr>
          <a:xfrm>
            <a:off x="530352" y="2633472"/>
            <a:ext cx="3520440" cy="347472"/>
          </a:xfrm>
          <a:prstGeom prst="roundRect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750" b="1">
                <a:solidFill>
                  <a:srgbClr val="122031"/>
                </a:solidFill>
                <a:latin typeface="Aptos"/>
              </a:rPr>
              <a:t>Microsoft Security Copilot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008376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1" u="sng">
                <a:solidFill>
                  <a:srgbClr val="0061A1"/>
                </a:solidFill>
                <a:latin typeface="Aptos"/>
                <a:hlinkClick r:id="rId2"/>
              </a:rPr>
              <a:t>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3008376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1" u="sng">
                <a:solidFill>
                  <a:srgbClr val="0061A1"/>
                </a:solidFill>
                <a:latin typeface="Aptos"/>
                <a:hlinkClick r:id="rId3"/>
              </a:rPr>
              <a:t>Video</a:t>
            </a:r>
          </a:p>
        </p:txBody>
      </p:sp>
      <p:sp>
        <p:nvSpPr>
          <p:cNvPr id="13" name="Rounded Rectangle 12">
            <a:hlinkClick r:id="rId4"/>
          </p:cNvPr>
          <p:cNvSpPr/>
          <p:nvPr/>
        </p:nvSpPr>
        <p:spPr>
          <a:xfrm>
            <a:off x="530352" y="3246120"/>
            <a:ext cx="3520440" cy="347472"/>
          </a:xfrm>
          <a:prstGeom prst="roundRect">
            <a:avLst/>
          </a:prstGeom>
          <a:solidFill>
            <a:srgbClr val="D6E69E"/>
          </a:solidFill>
          <a:ln>
            <a:solidFill>
              <a:srgbClr val="D6E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750" b="1">
                <a:solidFill>
                  <a:srgbClr val="122031"/>
                </a:solidFill>
                <a:latin typeface="Aptos"/>
              </a:rPr>
              <a:t>Azure Copilot observability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621024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1" u="sng">
                <a:solidFill>
                  <a:srgbClr val="0061A1"/>
                </a:solidFill>
                <a:latin typeface="Aptos"/>
                <a:hlinkClick r:id="rId4"/>
              </a:rPr>
              <a:t>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267712"/>
            <a:ext cx="1828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22031"/>
                </a:solidFill>
                <a:latin typeface="Aptos"/>
              </a:rPr>
              <a:t>Parcours simple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7720" y="2651760"/>
            <a:ext cx="884681" cy="566928"/>
          </a:xfrm>
          <a:prstGeom prst="roundRect">
            <a:avLst/>
          </a:prstGeom>
          <a:solidFill>
            <a:srgbClr val="D6E69E"/>
          </a:solidFill>
          <a:ln>
            <a:solidFill>
              <a:srgbClr val="D6E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Alertes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456681" y="2852928"/>
            <a:ext cx="128016" cy="146304"/>
          </a:xfrm>
          <a:prstGeom prst="rightArrow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12129" y="2651760"/>
            <a:ext cx="884681" cy="566928"/>
          </a:xfrm>
          <a:prstGeom prst="roundRect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Analyse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451092" y="2852928"/>
            <a:ext cx="128016" cy="146304"/>
          </a:xfrm>
          <a:prstGeom prst="rightArrow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06540" y="2651760"/>
            <a:ext cx="884681" cy="566928"/>
          </a:xfrm>
          <a:prstGeom prst="roundRect">
            <a:avLst/>
          </a:prstGeom>
          <a:solidFill>
            <a:srgbClr val="D6E69E"/>
          </a:solidFill>
          <a:ln>
            <a:solidFill>
              <a:srgbClr val="D6E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Runbook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445502" y="2852928"/>
            <a:ext cx="128016" cy="146304"/>
          </a:xfrm>
          <a:prstGeom prst="rightArrow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600950" y="2651760"/>
            <a:ext cx="884681" cy="566928"/>
          </a:xfrm>
          <a:prstGeom prst="roundRect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3977639"/>
            <a:ext cx="27432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22031"/>
                </a:solidFill>
                <a:latin typeface="Aptos"/>
              </a:rPr>
              <a:t>Ce que l'agent aide a faire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352544"/>
            <a:ext cx="221284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F2A37"/>
                </a:solidFill>
                <a:latin typeface="Aptos"/>
              </a:rPr>
              <a:t>Resume l'incident</a:t>
            </a:r>
          </a:p>
        </p:txBody>
      </p:sp>
      <p:sp>
        <p:nvSpPr>
          <p:cNvPr id="25" name="Oval 24"/>
          <p:cNvSpPr/>
          <p:nvPr/>
        </p:nvSpPr>
        <p:spPr>
          <a:xfrm>
            <a:off x="530352" y="4407408"/>
            <a:ext cx="109728" cy="109728"/>
          </a:xfrm>
          <a:prstGeom prst="ellipse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9584" y="4352544"/>
            <a:ext cx="221284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F2A37"/>
                </a:solidFill>
                <a:latin typeface="Aptos"/>
              </a:rPr>
              <a:t>Propose la requete KQL</a:t>
            </a:r>
          </a:p>
        </p:txBody>
      </p:sp>
      <p:sp>
        <p:nvSpPr>
          <p:cNvPr id="27" name="Oval 26"/>
          <p:cNvSpPr/>
          <p:nvPr/>
        </p:nvSpPr>
        <p:spPr>
          <a:xfrm>
            <a:off x="3346704" y="4407408"/>
            <a:ext cx="109728" cy="109728"/>
          </a:xfrm>
          <a:prstGeom prst="ellipse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4352544"/>
            <a:ext cx="221284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F2A37"/>
                </a:solidFill>
                <a:latin typeface="Aptos"/>
              </a:rPr>
              <a:t>Guide la remediation</a:t>
            </a:r>
          </a:p>
        </p:txBody>
      </p:sp>
      <p:sp>
        <p:nvSpPr>
          <p:cNvPr id="29" name="Oval 28"/>
          <p:cNvSpPr/>
          <p:nvPr/>
        </p:nvSpPr>
        <p:spPr>
          <a:xfrm>
            <a:off x="6163056" y="4407408"/>
            <a:ext cx="109728" cy="109728"/>
          </a:xfrm>
          <a:prstGeom prst="ellipse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122031"/>
          </a:solidFill>
          <a:ln>
            <a:solidFill>
              <a:srgbClr val="122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2344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8088"/>
                </a:solidFill>
                <a:latin typeface="Aptos"/>
              </a:rPr>
              <a:t>Challenge #02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46520" y="457200"/>
            <a:ext cx="21945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5C6978"/>
                </a:solidFill>
                <a:latin typeface="Aptos"/>
              </a:rPr>
              <a:t>QUALITE &amp; SECURITE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621792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22031"/>
                </a:solidFill>
                <a:latin typeface="Aptos"/>
              </a:rPr>
              <a:t>Securiser et fiabiliser le traitement des donnees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426464"/>
            <a:ext cx="6172200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0" b="0">
                <a:solidFill>
                  <a:srgbClr val="1F2A37"/>
                </a:solidFill>
                <a:latin typeface="Aptos"/>
              </a:rPr>
              <a:t>Passer d'une chaine de donnees dispersee a une plateforme gouvernee: classification, controles, lineage, supervision et usages IA bornes.</a:t>
            </a:r>
          </a:p>
        </p:txBody>
      </p:sp>
      <p:sp>
        <p:nvSpPr>
          <p:cNvPr id="7" name="Oval 6"/>
          <p:cNvSpPr/>
          <p:nvPr/>
        </p:nvSpPr>
        <p:spPr>
          <a:xfrm>
            <a:off x="7543800" y="749808"/>
            <a:ext cx="841248" cy="841248"/>
          </a:xfrm>
          <a:prstGeom prst="ellipse">
            <a:avLst/>
          </a:prstGeom>
          <a:solidFill>
            <a:srgbClr val="D6E69E"/>
          </a:solidFill>
          <a:ln>
            <a:solidFill>
              <a:srgbClr val="D6E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08392" y="969264"/>
            <a:ext cx="5029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22031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267712"/>
            <a:ext cx="20116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22031"/>
                </a:solidFill>
                <a:latin typeface="Aptos"/>
              </a:rPr>
              <a:t>Agents a mobiliser</a:t>
            </a:r>
          </a:p>
        </p:txBody>
      </p:sp>
      <p:sp>
        <p:nvSpPr>
          <p:cNvPr id="10" name="Rounded Rectangle 9">
            <a:hlinkClick r:id="rId2"/>
          </p:cNvPr>
          <p:cNvSpPr/>
          <p:nvPr/>
        </p:nvSpPr>
        <p:spPr>
          <a:xfrm>
            <a:off x="530352" y="2633472"/>
            <a:ext cx="3520440" cy="347472"/>
          </a:xfrm>
          <a:prstGeom prst="roundRect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750" b="1">
                <a:solidFill>
                  <a:srgbClr val="122031"/>
                </a:solidFill>
                <a:latin typeface="Aptos"/>
              </a:rPr>
              <a:t>Copilot in Microsoft Purview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008376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1" u="sng">
                <a:solidFill>
                  <a:srgbClr val="0061A1"/>
                </a:solidFill>
                <a:latin typeface="Aptos"/>
                <a:hlinkClick r:id="rId2"/>
              </a:rPr>
              <a:t>Demo</a:t>
            </a:r>
          </a:p>
        </p:txBody>
      </p:sp>
      <p:sp>
        <p:nvSpPr>
          <p:cNvPr id="12" name="Rounded Rectangle 11">
            <a:hlinkClick r:id="rId3"/>
          </p:cNvPr>
          <p:cNvSpPr/>
          <p:nvPr/>
        </p:nvSpPr>
        <p:spPr>
          <a:xfrm>
            <a:off x="530352" y="3246120"/>
            <a:ext cx="3520440" cy="347472"/>
          </a:xfrm>
          <a:prstGeom prst="roundRect">
            <a:avLst/>
          </a:prstGeom>
          <a:solidFill>
            <a:srgbClr val="D6E69E"/>
          </a:solidFill>
          <a:ln>
            <a:solidFill>
              <a:srgbClr val="D6E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Copilot in Fabric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621024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1" u="sng">
                <a:solidFill>
                  <a:srgbClr val="0061A1"/>
                </a:solidFill>
                <a:latin typeface="Aptos"/>
                <a:hlinkClick r:id="rId3"/>
              </a:rPr>
              <a:t>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67712"/>
            <a:ext cx="1828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22031"/>
                </a:solidFill>
                <a:latin typeface="Aptos"/>
              </a:rPr>
              <a:t>Parcours simple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2651760"/>
            <a:ext cx="884681" cy="566928"/>
          </a:xfrm>
          <a:prstGeom prst="roundRect">
            <a:avLst/>
          </a:prstGeom>
          <a:solidFill>
            <a:srgbClr val="F2977E"/>
          </a:solidFill>
          <a:ln>
            <a:solidFill>
              <a:srgbClr val="F2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Donnees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456681" y="2852928"/>
            <a:ext cx="128016" cy="146304"/>
          </a:xfrm>
          <a:prstGeom prst="rightArrow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12129" y="2651760"/>
            <a:ext cx="884681" cy="566928"/>
          </a:xfrm>
          <a:prstGeom prst="roundRect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Classement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451092" y="2852928"/>
            <a:ext cx="128016" cy="146304"/>
          </a:xfrm>
          <a:prstGeom prst="rightArrow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06540" y="2651760"/>
            <a:ext cx="884681" cy="566928"/>
          </a:xfrm>
          <a:prstGeom prst="roundRect">
            <a:avLst/>
          </a:prstGeom>
          <a:solidFill>
            <a:srgbClr val="F2977E"/>
          </a:solidFill>
          <a:ln>
            <a:solidFill>
              <a:srgbClr val="F2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Controle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445502" y="2852928"/>
            <a:ext cx="128016" cy="146304"/>
          </a:xfrm>
          <a:prstGeom prst="rightArrow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600950" y="2651760"/>
            <a:ext cx="884681" cy="566928"/>
          </a:xfrm>
          <a:prstGeom prst="roundRect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Usage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3977639"/>
            <a:ext cx="27432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22031"/>
                </a:solidFill>
                <a:latin typeface="Aptos"/>
              </a:rPr>
              <a:t>Ce que l'agent aide a faire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352544"/>
            <a:ext cx="221284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F2A37"/>
                </a:solidFill>
                <a:latin typeface="Aptos"/>
              </a:rPr>
              <a:t>Identifie les donnees sensibles</a:t>
            </a:r>
          </a:p>
        </p:txBody>
      </p:sp>
      <p:sp>
        <p:nvSpPr>
          <p:cNvPr id="24" name="Oval 23"/>
          <p:cNvSpPr/>
          <p:nvPr/>
        </p:nvSpPr>
        <p:spPr>
          <a:xfrm>
            <a:off x="530352" y="4407408"/>
            <a:ext cx="109728" cy="109728"/>
          </a:xfrm>
          <a:prstGeom prst="ellipse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9584" y="4352544"/>
            <a:ext cx="221284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F2A37"/>
                </a:solidFill>
                <a:latin typeface="Aptos"/>
              </a:rPr>
              <a:t>Explique les risques</a:t>
            </a:r>
          </a:p>
        </p:txBody>
      </p:sp>
      <p:sp>
        <p:nvSpPr>
          <p:cNvPr id="26" name="Oval 25"/>
          <p:cNvSpPr/>
          <p:nvPr/>
        </p:nvSpPr>
        <p:spPr>
          <a:xfrm>
            <a:off x="3346704" y="4407408"/>
            <a:ext cx="109728" cy="109728"/>
          </a:xfrm>
          <a:prstGeom prst="ellipse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5936" y="4352544"/>
            <a:ext cx="221284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F2A37"/>
                </a:solidFill>
                <a:latin typeface="Aptos"/>
              </a:rPr>
              <a:t>Aide a documenter les controles</a:t>
            </a:r>
          </a:p>
        </p:txBody>
      </p:sp>
      <p:sp>
        <p:nvSpPr>
          <p:cNvPr id="28" name="Oval 27"/>
          <p:cNvSpPr/>
          <p:nvPr/>
        </p:nvSpPr>
        <p:spPr>
          <a:xfrm>
            <a:off x="6163056" y="4407408"/>
            <a:ext cx="109728" cy="109728"/>
          </a:xfrm>
          <a:prstGeom prst="ellipse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2344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8088"/>
                </a:solidFill>
                <a:latin typeface="Aptos"/>
              </a:rPr>
              <a:t>Challenge #03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46520" y="457200"/>
            <a:ext cx="21945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5C6978"/>
                </a:solidFill>
                <a:latin typeface="Aptos"/>
              </a:rPr>
              <a:t>QUALITE &amp; SECURITE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621792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22031"/>
                </a:solidFill>
                <a:latin typeface="Aptos"/>
              </a:rPr>
              <a:t>Piloter les plans de remediation SSI par les risques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426464"/>
            <a:ext cx="6172200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0" b="0">
                <a:solidFill>
                  <a:srgbClr val="1F2A37"/>
                </a:solidFill>
                <a:latin typeface="Aptos"/>
              </a:rPr>
              <a:t>Prioriser les actions SSI par criticite business, chemin d'attaque, exposition cloud/code et capacite de remediation.</a:t>
            </a:r>
          </a:p>
        </p:txBody>
      </p:sp>
      <p:sp>
        <p:nvSpPr>
          <p:cNvPr id="7" name="Oval 6"/>
          <p:cNvSpPr/>
          <p:nvPr/>
        </p:nvSpPr>
        <p:spPr>
          <a:xfrm>
            <a:off x="7543800" y="749808"/>
            <a:ext cx="841248" cy="841248"/>
          </a:xfrm>
          <a:prstGeom prst="ellipse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08392" y="969264"/>
            <a:ext cx="5029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22031"/>
                </a:solidFill>
                <a:latin typeface="Apto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267712"/>
            <a:ext cx="20116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22031"/>
                </a:solidFill>
                <a:latin typeface="Aptos"/>
              </a:rPr>
              <a:t>Agents a mobiliser</a:t>
            </a:r>
          </a:p>
        </p:txBody>
      </p:sp>
      <p:sp>
        <p:nvSpPr>
          <p:cNvPr id="10" name="Rounded Rectangle 9">
            <a:hlinkClick r:id="rId2"/>
          </p:cNvPr>
          <p:cNvSpPr/>
          <p:nvPr/>
        </p:nvSpPr>
        <p:spPr>
          <a:xfrm>
            <a:off x="530352" y="2633472"/>
            <a:ext cx="3520440" cy="347472"/>
          </a:xfrm>
          <a:prstGeom prst="roundRect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750" b="1">
                <a:solidFill>
                  <a:srgbClr val="122031"/>
                </a:solidFill>
                <a:latin typeface="Aptos"/>
              </a:rPr>
              <a:t>Microsoft Security Copilot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008376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1" u="sng">
                <a:solidFill>
                  <a:srgbClr val="0061A1"/>
                </a:solidFill>
                <a:latin typeface="Aptos"/>
                <a:hlinkClick r:id="rId2"/>
              </a:rPr>
              <a:t>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3008376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1" u="sng">
                <a:solidFill>
                  <a:srgbClr val="0061A1"/>
                </a:solidFill>
                <a:latin typeface="Aptos"/>
                <a:hlinkClick r:id="rId3"/>
              </a:rPr>
              <a:t>Video</a:t>
            </a:r>
          </a:p>
        </p:txBody>
      </p:sp>
      <p:sp>
        <p:nvSpPr>
          <p:cNvPr id="13" name="Rounded Rectangle 12">
            <a:hlinkClick r:id="rId4"/>
          </p:cNvPr>
          <p:cNvSpPr/>
          <p:nvPr/>
        </p:nvSpPr>
        <p:spPr>
          <a:xfrm>
            <a:off x="530352" y="3246120"/>
            <a:ext cx="3520440" cy="347472"/>
          </a:xfrm>
          <a:prstGeom prst="roundRect">
            <a:avLst/>
          </a:prstGeom>
          <a:solidFill>
            <a:srgbClr val="D6E69E"/>
          </a:solidFill>
          <a:ln>
            <a:solidFill>
              <a:srgbClr val="D6E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750" b="1">
                <a:solidFill>
                  <a:srgbClr val="122031"/>
                </a:solidFill>
                <a:latin typeface="Aptos"/>
              </a:rPr>
              <a:t>Defender for Cloud embedded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621024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1" u="sng">
                <a:solidFill>
                  <a:srgbClr val="0061A1"/>
                </a:solidFill>
                <a:latin typeface="Aptos"/>
                <a:hlinkClick r:id="rId4"/>
              </a:rPr>
              <a:t>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267712"/>
            <a:ext cx="1828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22031"/>
                </a:solidFill>
                <a:latin typeface="Aptos"/>
              </a:rPr>
              <a:t>Parcours simple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7720" y="2651760"/>
            <a:ext cx="884681" cy="566928"/>
          </a:xfrm>
          <a:prstGeom prst="roundRect">
            <a:avLst/>
          </a:prstGeom>
          <a:solidFill>
            <a:srgbClr val="D6E69E"/>
          </a:solidFill>
          <a:ln>
            <a:solidFill>
              <a:srgbClr val="D6E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Risque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456681" y="2852928"/>
            <a:ext cx="128016" cy="146304"/>
          </a:xfrm>
          <a:prstGeom prst="rightArrow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12129" y="2651760"/>
            <a:ext cx="884681" cy="566928"/>
          </a:xfrm>
          <a:prstGeom prst="roundRect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Priorite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451092" y="2852928"/>
            <a:ext cx="128016" cy="146304"/>
          </a:xfrm>
          <a:prstGeom prst="rightArrow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06540" y="2651760"/>
            <a:ext cx="884681" cy="566928"/>
          </a:xfrm>
          <a:prstGeom prst="roundRect">
            <a:avLst/>
          </a:prstGeom>
          <a:solidFill>
            <a:srgbClr val="D6E69E"/>
          </a:solidFill>
          <a:ln>
            <a:solidFill>
              <a:srgbClr val="D6E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Owner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445502" y="2852928"/>
            <a:ext cx="128016" cy="146304"/>
          </a:xfrm>
          <a:prstGeom prst="rightArrow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600950" y="2651760"/>
            <a:ext cx="884681" cy="566928"/>
          </a:xfrm>
          <a:prstGeom prst="roundRect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Suivi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3977639"/>
            <a:ext cx="27432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22031"/>
                </a:solidFill>
                <a:latin typeface="Aptos"/>
              </a:rPr>
              <a:t>Ce que l'agent aide a faire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352544"/>
            <a:ext cx="221284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F2A37"/>
                </a:solidFill>
                <a:latin typeface="Aptos"/>
              </a:rPr>
              <a:t>Explique le chemin d'attaque</a:t>
            </a:r>
          </a:p>
        </p:txBody>
      </p:sp>
      <p:sp>
        <p:nvSpPr>
          <p:cNvPr id="25" name="Oval 24"/>
          <p:cNvSpPr/>
          <p:nvPr/>
        </p:nvSpPr>
        <p:spPr>
          <a:xfrm>
            <a:off x="530352" y="4407408"/>
            <a:ext cx="109728" cy="109728"/>
          </a:xfrm>
          <a:prstGeom prst="ellipse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9584" y="4352544"/>
            <a:ext cx="221284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F2A37"/>
                </a:solidFill>
                <a:latin typeface="Aptos"/>
              </a:rPr>
              <a:t>Priorise par impact</a:t>
            </a:r>
          </a:p>
        </p:txBody>
      </p:sp>
      <p:sp>
        <p:nvSpPr>
          <p:cNvPr id="27" name="Oval 26"/>
          <p:cNvSpPr/>
          <p:nvPr/>
        </p:nvSpPr>
        <p:spPr>
          <a:xfrm>
            <a:off x="3346704" y="4407408"/>
            <a:ext cx="109728" cy="109728"/>
          </a:xfrm>
          <a:prstGeom prst="ellipse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4352544"/>
            <a:ext cx="221284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F2A37"/>
                </a:solidFill>
                <a:latin typeface="Aptos"/>
              </a:rPr>
              <a:t>Prepare les actions owners</a:t>
            </a:r>
          </a:p>
        </p:txBody>
      </p:sp>
      <p:sp>
        <p:nvSpPr>
          <p:cNvPr id="29" name="Oval 28"/>
          <p:cNvSpPr/>
          <p:nvPr/>
        </p:nvSpPr>
        <p:spPr>
          <a:xfrm>
            <a:off x="6163056" y="4407408"/>
            <a:ext cx="109728" cy="109728"/>
          </a:xfrm>
          <a:prstGeom prst="ellipse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122031"/>
          </a:solidFill>
          <a:ln>
            <a:solidFill>
              <a:srgbClr val="122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2344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8088"/>
                </a:solidFill>
                <a:latin typeface="Aptos"/>
              </a:rPr>
              <a:t>Challenge #04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46520" y="457200"/>
            <a:ext cx="21945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5C6978"/>
                </a:solidFill>
                <a:latin typeface="Aptos"/>
              </a:rPr>
              <a:t>RELATION METIER /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621792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22031"/>
                </a:solidFill>
                <a:latin typeface="Aptos"/>
              </a:rPr>
              <a:t>Alleger le pilotage des projets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426464"/>
            <a:ext cx="6172200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0" b="0">
                <a:solidFill>
                  <a:srgbClr val="1F2A37"/>
                </a:solidFill>
                <a:latin typeface="Aptos"/>
              </a:rPr>
              <a:t>Automatiser la synthese, les comptes rendus, la preparation des supports et le suivi des decisions sans sortir du flux Teams/Office.</a:t>
            </a:r>
          </a:p>
        </p:txBody>
      </p:sp>
      <p:sp>
        <p:nvSpPr>
          <p:cNvPr id="7" name="Oval 6"/>
          <p:cNvSpPr/>
          <p:nvPr/>
        </p:nvSpPr>
        <p:spPr>
          <a:xfrm>
            <a:off x="7543800" y="749808"/>
            <a:ext cx="841248" cy="841248"/>
          </a:xfrm>
          <a:prstGeom prst="ellipse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08392" y="969264"/>
            <a:ext cx="5029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22031"/>
                </a:solidFill>
                <a:latin typeface="Aptos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267712"/>
            <a:ext cx="20116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22031"/>
                </a:solidFill>
                <a:latin typeface="Aptos"/>
              </a:rPr>
              <a:t>Agents a mobiliser</a:t>
            </a:r>
          </a:p>
        </p:txBody>
      </p:sp>
      <p:sp>
        <p:nvSpPr>
          <p:cNvPr id="10" name="Rounded Rectangle 9">
            <a:hlinkClick r:id="rId2"/>
          </p:cNvPr>
          <p:cNvSpPr/>
          <p:nvPr/>
        </p:nvSpPr>
        <p:spPr>
          <a:xfrm>
            <a:off x="530352" y="2633472"/>
            <a:ext cx="3520440" cy="347472"/>
          </a:xfrm>
          <a:prstGeom prst="roundRect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Microsoft 365 Copilot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008376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1" u="sng">
                <a:solidFill>
                  <a:srgbClr val="0061A1"/>
                </a:solidFill>
                <a:latin typeface="Aptos"/>
                <a:hlinkClick r:id="rId2"/>
              </a:rPr>
              <a:t>Demo</a:t>
            </a:r>
          </a:p>
        </p:txBody>
      </p:sp>
      <p:sp>
        <p:nvSpPr>
          <p:cNvPr id="12" name="Rounded Rectangle 11">
            <a:hlinkClick r:id="rId3"/>
          </p:cNvPr>
          <p:cNvSpPr/>
          <p:nvPr/>
        </p:nvSpPr>
        <p:spPr>
          <a:xfrm>
            <a:off x="530352" y="3246120"/>
            <a:ext cx="3520440" cy="347472"/>
          </a:xfrm>
          <a:prstGeom prst="roundRect">
            <a:avLst/>
          </a:prstGeom>
          <a:solidFill>
            <a:srgbClr val="D6E69E"/>
          </a:solidFill>
          <a:ln>
            <a:solidFill>
              <a:srgbClr val="D6E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Copilot Studio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621024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1" u="sng">
                <a:solidFill>
                  <a:srgbClr val="0061A1"/>
                </a:solidFill>
                <a:latin typeface="Aptos"/>
                <a:hlinkClick r:id="rId3"/>
              </a:rPr>
              <a:t>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67712"/>
            <a:ext cx="1828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22031"/>
                </a:solidFill>
                <a:latin typeface="Aptos"/>
              </a:rPr>
              <a:t>Parcours simple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2651760"/>
            <a:ext cx="884681" cy="566928"/>
          </a:xfrm>
          <a:prstGeom prst="roundRect">
            <a:avLst/>
          </a:prstGeom>
          <a:solidFill>
            <a:srgbClr val="F2977E"/>
          </a:solidFill>
          <a:ln>
            <a:solidFill>
              <a:srgbClr val="F2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Reunion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456681" y="2852928"/>
            <a:ext cx="128016" cy="146304"/>
          </a:xfrm>
          <a:prstGeom prst="rightArrow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12129" y="2651760"/>
            <a:ext cx="884681" cy="566928"/>
          </a:xfrm>
          <a:prstGeom prst="roundRect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Synthese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451092" y="2852928"/>
            <a:ext cx="128016" cy="146304"/>
          </a:xfrm>
          <a:prstGeom prst="rightArrow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06540" y="2651760"/>
            <a:ext cx="884681" cy="566928"/>
          </a:xfrm>
          <a:prstGeom prst="roundRect">
            <a:avLst/>
          </a:prstGeom>
          <a:solidFill>
            <a:srgbClr val="F2977E"/>
          </a:solidFill>
          <a:ln>
            <a:solidFill>
              <a:srgbClr val="F2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Actions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445502" y="2852928"/>
            <a:ext cx="128016" cy="146304"/>
          </a:xfrm>
          <a:prstGeom prst="rightArrow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600950" y="2651760"/>
            <a:ext cx="884681" cy="566928"/>
          </a:xfrm>
          <a:prstGeom prst="roundRect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Reporting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3977639"/>
            <a:ext cx="27432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22031"/>
                </a:solidFill>
                <a:latin typeface="Aptos"/>
              </a:rPr>
              <a:t>Ce que l'agent aide a faire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352544"/>
            <a:ext cx="221284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F2A37"/>
                </a:solidFill>
                <a:latin typeface="Aptos"/>
              </a:rPr>
              <a:t>Produit le CR</a:t>
            </a:r>
          </a:p>
        </p:txBody>
      </p:sp>
      <p:sp>
        <p:nvSpPr>
          <p:cNvPr id="24" name="Oval 23"/>
          <p:cNvSpPr/>
          <p:nvPr/>
        </p:nvSpPr>
        <p:spPr>
          <a:xfrm>
            <a:off x="530352" y="4407408"/>
            <a:ext cx="109728" cy="109728"/>
          </a:xfrm>
          <a:prstGeom prst="ellipse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9584" y="4352544"/>
            <a:ext cx="221284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F2A37"/>
                </a:solidFill>
                <a:latin typeface="Aptos"/>
              </a:rPr>
              <a:t>Suit les decisions</a:t>
            </a:r>
          </a:p>
        </p:txBody>
      </p:sp>
      <p:sp>
        <p:nvSpPr>
          <p:cNvPr id="26" name="Oval 25"/>
          <p:cNvSpPr/>
          <p:nvPr/>
        </p:nvSpPr>
        <p:spPr>
          <a:xfrm>
            <a:off x="3346704" y="4407408"/>
            <a:ext cx="109728" cy="109728"/>
          </a:xfrm>
          <a:prstGeom prst="ellipse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5936" y="4352544"/>
            <a:ext cx="221284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F2A37"/>
                </a:solidFill>
                <a:latin typeface="Aptos"/>
              </a:rPr>
              <a:t>Prepare le support projet</a:t>
            </a:r>
          </a:p>
        </p:txBody>
      </p:sp>
      <p:sp>
        <p:nvSpPr>
          <p:cNvPr id="28" name="Oval 27"/>
          <p:cNvSpPr/>
          <p:nvPr/>
        </p:nvSpPr>
        <p:spPr>
          <a:xfrm>
            <a:off x="6163056" y="4407408"/>
            <a:ext cx="109728" cy="109728"/>
          </a:xfrm>
          <a:prstGeom prst="ellipse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2344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8088"/>
                </a:solidFill>
                <a:latin typeface="Aptos"/>
              </a:rPr>
              <a:t>Challenge #05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46520" y="457200"/>
            <a:ext cx="21945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5C6978"/>
                </a:solidFill>
                <a:latin typeface="Aptos"/>
              </a:rPr>
              <a:t>EFFICIENCE &amp; PATRIMOINE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621792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22031"/>
                </a:solidFill>
                <a:latin typeface="Aptos"/>
              </a:rPr>
              <a:t>Maitriser les patrimoines applicatifs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426464"/>
            <a:ext cx="6172200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0" b="0">
                <a:solidFill>
                  <a:srgbClr val="1F2A37"/>
                </a:solidFill>
                <a:latin typeface="Aptos"/>
              </a:rPr>
              <a:t>Construire un inventaire vivant des applications, dependances, couts, risques et trajectoires de transformation.</a:t>
            </a:r>
          </a:p>
        </p:txBody>
      </p:sp>
      <p:sp>
        <p:nvSpPr>
          <p:cNvPr id="7" name="Oval 6"/>
          <p:cNvSpPr/>
          <p:nvPr/>
        </p:nvSpPr>
        <p:spPr>
          <a:xfrm>
            <a:off x="7543800" y="749808"/>
            <a:ext cx="841248" cy="841248"/>
          </a:xfrm>
          <a:prstGeom prst="ellipse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08392" y="969264"/>
            <a:ext cx="5029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22031"/>
                </a:solidFill>
                <a:latin typeface="Aptos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267712"/>
            <a:ext cx="20116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22031"/>
                </a:solidFill>
                <a:latin typeface="Aptos"/>
              </a:rPr>
              <a:t>Agents a mobiliser</a:t>
            </a:r>
          </a:p>
        </p:txBody>
      </p:sp>
      <p:sp>
        <p:nvSpPr>
          <p:cNvPr id="10" name="Rounded Rectangle 9">
            <a:hlinkClick r:id="rId2"/>
          </p:cNvPr>
          <p:cNvSpPr/>
          <p:nvPr/>
        </p:nvSpPr>
        <p:spPr>
          <a:xfrm>
            <a:off x="530352" y="2633472"/>
            <a:ext cx="3520440" cy="347472"/>
          </a:xfrm>
          <a:prstGeom prst="roundRect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750" b="1">
                <a:solidFill>
                  <a:srgbClr val="122031"/>
                </a:solidFill>
                <a:latin typeface="Aptos"/>
              </a:rPr>
              <a:t>Azure Copilot migration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008376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1" u="sng">
                <a:solidFill>
                  <a:srgbClr val="0061A1"/>
                </a:solidFill>
                <a:latin typeface="Aptos"/>
                <a:hlinkClick r:id="rId2"/>
              </a:rPr>
              <a:t>Demo</a:t>
            </a:r>
          </a:p>
        </p:txBody>
      </p:sp>
      <p:sp>
        <p:nvSpPr>
          <p:cNvPr id="12" name="Rounded Rectangle 11">
            <a:hlinkClick r:id="rId3"/>
          </p:cNvPr>
          <p:cNvSpPr/>
          <p:nvPr/>
        </p:nvSpPr>
        <p:spPr>
          <a:xfrm>
            <a:off x="530352" y="3246120"/>
            <a:ext cx="3520440" cy="347472"/>
          </a:xfrm>
          <a:prstGeom prst="roundRect">
            <a:avLst/>
          </a:prstGeom>
          <a:solidFill>
            <a:srgbClr val="D6E69E"/>
          </a:solidFill>
          <a:ln>
            <a:solidFill>
              <a:srgbClr val="D6E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750" b="1">
                <a:solidFill>
                  <a:srgbClr val="122031"/>
                </a:solidFill>
                <a:latin typeface="Aptos"/>
              </a:rPr>
              <a:t>GitHub Copilot agent mode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621024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1" u="sng">
                <a:solidFill>
                  <a:srgbClr val="0061A1"/>
                </a:solidFill>
                <a:latin typeface="Aptos"/>
                <a:hlinkClick r:id="rId3"/>
              </a:rPr>
              <a:t>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67712"/>
            <a:ext cx="1828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22031"/>
                </a:solidFill>
                <a:latin typeface="Aptos"/>
              </a:rPr>
              <a:t>Parcours simple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2651760"/>
            <a:ext cx="884681" cy="566928"/>
          </a:xfrm>
          <a:prstGeom prst="roundRect">
            <a:avLst/>
          </a:prstGeom>
          <a:solidFill>
            <a:srgbClr val="D6E69E"/>
          </a:solidFill>
          <a:ln>
            <a:solidFill>
              <a:srgbClr val="D6E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Inventaire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456681" y="2852928"/>
            <a:ext cx="128016" cy="146304"/>
          </a:xfrm>
          <a:prstGeom prst="rightArrow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12129" y="2651760"/>
            <a:ext cx="884681" cy="566928"/>
          </a:xfrm>
          <a:prstGeom prst="roundRect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Dependances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451092" y="2852928"/>
            <a:ext cx="128016" cy="146304"/>
          </a:xfrm>
          <a:prstGeom prst="rightArrow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06540" y="2651760"/>
            <a:ext cx="884681" cy="566928"/>
          </a:xfrm>
          <a:prstGeom prst="roundRect">
            <a:avLst/>
          </a:prstGeom>
          <a:solidFill>
            <a:srgbClr val="D6E69E"/>
          </a:solidFill>
          <a:ln>
            <a:solidFill>
              <a:srgbClr val="D6E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Trajectoire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445502" y="2852928"/>
            <a:ext cx="128016" cy="146304"/>
          </a:xfrm>
          <a:prstGeom prst="rightArrow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600950" y="2651760"/>
            <a:ext cx="884681" cy="566928"/>
          </a:xfrm>
          <a:prstGeom prst="roundRect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Backlog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3977639"/>
            <a:ext cx="27432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22031"/>
                </a:solidFill>
                <a:latin typeface="Aptos"/>
              </a:rPr>
              <a:t>Ce que l'agent aide a faire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352544"/>
            <a:ext cx="221284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F2A37"/>
                </a:solidFill>
                <a:latin typeface="Aptos"/>
              </a:rPr>
              <a:t>Interroge l'inventaire</a:t>
            </a:r>
          </a:p>
        </p:txBody>
      </p:sp>
      <p:sp>
        <p:nvSpPr>
          <p:cNvPr id="24" name="Oval 23"/>
          <p:cNvSpPr/>
          <p:nvPr/>
        </p:nvSpPr>
        <p:spPr>
          <a:xfrm>
            <a:off x="530352" y="4407408"/>
            <a:ext cx="109728" cy="109728"/>
          </a:xfrm>
          <a:prstGeom prst="ellipse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9584" y="4352544"/>
            <a:ext cx="221284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F2A37"/>
                </a:solidFill>
                <a:latin typeface="Aptos"/>
              </a:rPr>
              <a:t>Resume les dependances</a:t>
            </a:r>
          </a:p>
        </p:txBody>
      </p:sp>
      <p:sp>
        <p:nvSpPr>
          <p:cNvPr id="26" name="Oval 25"/>
          <p:cNvSpPr/>
          <p:nvPr/>
        </p:nvSpPr>
        <p:spPr>
          <a:xfrm>
            <a:off x="3346704" y="4407408"/>
            <a:ext cx="109728" cy="109728"/>
          </a:xfrm>
          <a:prstGeom prst="ellipse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5936" y="4352544"/>
            <a:ext cx="221284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F2A37"/>
                </a:solidFill>
                <a:latin typeface="Aptos"/>
              </a:rPr>
              <a:t>Cree une fiche applicative</a:t>
            </a:r>
          </a:p>
        </p:txBody>
      </p:sp>
      <p:sp>
        <p:nvSpPr>
          <p:cNvPr id="28" name="Oval 27"/>
          <p:cNvSpPr/>
          <p:nvPr/>
        </p:nvSpPr>
        <p:spPr>
          <a:xfrm>
            <a:off x="6163056" y="4407408"/>
            <a:ext cx="109728" cy="109728"/>
          </a:xfrm>
          <a:prstGeom prst="ellipse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122031"/>
          </a:solidFill>
          <a:ln>
            <a:solidFill>
              <a:srgbClr val="122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2344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8088"/>
                </a:solidFill>
                <a:latin typeface="Aptos"/>
              </a:rPr>
              <a:t>Challenge #06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46520" y="457200"/>
            <a:ext cx="21945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5C6978"/>
                </a:solidFill>
                <a:latin typeface="Aptos"/>
              </a:rPr>
              <a:t>SOCLES TECHNOLOGIQUES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621792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22031"/>
                </a:solidFill>
                <a:latin typeface="Aptos"/>
              </a:rPr>
              <a:t>Accelerer la modernisation des patrimoines coeurs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426464"/>
            <a:ext cx="6172200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0" b="0">
                <a:solidFill>
                  <a:srgbClr val="1F2A37"/>
                </a:solidFill>
                <a:latin typeface="Aptos"/>
              </a:rPr>
              <a:t>Industrialiser la trajectoire migrate/modernize: evaluation, refactoring assiste, landing zones et pipeline de livraison securise.</a:t>
            </a:r>
          </a:p>
        </p:txBody>
      </p:sp>
      <p:sp>
        <p:nvSpPr>
          <p:cNvPr id="7" name="Oval 6"/>
          <p:cNvSpPr/>
          <p:nvPr/>
        </p:nvSpPr>
        <p:spPr>
          <a:xfrm>
            <a:off x="7543800" y="749808"/>
            <a:ext cx="841248" cy="841248"/>
          </a:xfrm>
          <a:prstGeom prst="ellipse">
            <a:avLst/>
          </a:prstGeom>
          <a:solidFill>
            <a:srgbClr val="D6E69E"/>
          </a:solidFill>
          <a:ln>
            <a:solidFill>
              <a:srgbClr val="D6E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08392" y="969264"/>
            <a:ext cx="5029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22031"/>
                </a:solidFill>
                <a:latin typeface="Aptos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267712"/>
            <a:ext cx="20116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22031"/>
                </a:solidFill>
                <a:latin typeface="Aptos"/>
              </a:rPr>
              <a:t>Agents a mobiliser</a:t>
            </a:r>
          </a:p>
        </p:txBody>
      </p:sp>
      <p:sp>
        <p:nvSpPr>
          <p:cNvPr id="10" name="Rounded Rectangle 9">
            <a:hlinkClick r:id="rId2"/>
          </p:cNvPr>
          <p:cNvSpPr/>
          <p:nvPr/>
        </p:nvSpPr>
        <p:spPr>
          <a:xfrm>
            <a:off x="530352" y="2633472"/>
            <a:ext cx="3520440" cy="347472"/>
          </a:xfrm>
          <a:prstGeom prst="roundRect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750" b="1">
                <a:solidFill>
                  <a:srgbClr val="122031"/>
                </a:solidFill>
                <a:latin typeface="Aptos"/>
              </a:rPr>
              <a:t>Azure Copilot migration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008376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1" u="sng">
                <a:solidFill>
                  <a:srgbClr val="0061A1"/>
                </a:solidFill>
                <a:latin typeface="Aptos"/>
                <a:hlinkClick r:id="rId2"/>
              </a:rPr>
              <a:t>Demo</a:t>
            </a:r>
          </a:p>
        </p:txBody>
      </p:sp>
      <p:sp>
        <p:nvSpPr>
          <p:cNvPr id="12" name="Rounded Rectangle 11">
            <a:hlinkClick r:id="rId3"/>
          </p:cNvPr>
          <p:cNvSpPr/>
          <p:nvPr/>
        </p:nvSpPr>
        <p:spPr>
          <a:xfrm>
            <a:off x="530352" y="3246120"/>
            <a:ext cx="3520440" cy="347472"/>
          </a:xfrm>
          <a:prstGeom prst="roundRect">
            <a:avLst/>
          </a:prstGeom>
          <a:solidFill>
            <a:srgbClr val="D6E69E"/>
          </a:solidFill>
          <a:ln>
            <a:solidFill>
              <a:srgbClr val="D6E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750" b="1">
                <a:solidFill>
                  <a:srgbClr val="122031"/>
                </a:solidFill>
                <a:latin typeface="Aptos"/>
              </a:rPr>
              <a:t>GitHub Copilot coding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621024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1" u="sng">
                <a:solidFill>
                  <a:srgbClr val="0061A1"/>
                </a:solidFill>
                <a:latin typeface="Aptos"/>
                <a:hlinkClick r:id="rId3"/>
              </a:rPr>
              <a:t>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67712"/>
            <a:ext cx="1828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22031"/>
                </a:solidFill>
                <a:latin typeface="Aptos"/>
              </a:rPr>
              <a:t>Parcours simple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2651760"/>
            <a:ext cx="884681" cy="566928"/>
          </a:xfrm>
          <a:prstGeom prst="roundRect">
            <a:avLst/>
          </a:prstGeom>
          <a:solidFill>
            <a:srgbClr val="F2977E"/>
          </a:solidFill>
          <a:ln>
            <a:solidFill>
              <a:srgbClr val="F2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Evaluer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456681" y="2852928"/>
            <a:ext cx="128016" cy="146304"/>
          </a:xfrm>
          <a:prstGeom prst="rightArrow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12129" y="2651760"/>
            <a:ext cx="884681" cy="566928"/>
          </a:xfrm>
          <a:prstGeom prst="roundRect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Planifier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451092" y="2852928"/>
            <a:ext cx="128016" cy="146304"/>
          </a:xfrm>
          <a:prstGeom prst="rightArrow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06540" y="2651760"/>
            <a:ext cx="884681" cy="566928"/>
          </a:xfrm>
          <a:prstGeom prst="roundRect">
            <a:avLst/>
          </a:prstGeom>
          <a:solidFill>
            <a:srgbClr val="F2977E"/>
          </a:solidFill>
          <a:ln>
            <a:solidFill>
              <a:srgbClr val="F2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Refactorer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445502" y="2852928"/>
            <a:ext cx="128016" cy="146304"/>
          </a:xfrm>
          <a:prstGeom prst="rightArrow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600950" y="2651760"/>
            <a:ext cx="884681" cy="566928"/>
          </a:xfrm>
          <a:prstGeom prst="roundRect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Deployer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3977639"/>
            <a:ext cx="27432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22031"/>
                </a:solidFill>
                <a:latin typeface="Aptos"/>
              </a:rPr>
              <a:t>Ce que l'agent aide a faire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352544"/>
            <a:ext cx="221284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F2A37"/>
                </a:solidFill>
                <a:latin typeface="Aptos"/>
              </a:rPr>
              <a:t>Compare les options</a:t>
            </a:r>
          </a:p>
        </p:txBody>
      </p:sp>
      <p:sp>
        <p:nvSpPr>
          <p:cNvPr id="24" name="Oval 23"/>
          <p:cNvSpPr/>
          <p:nvPr/>
        </p:nvSpPr>
        <p:spPr>
          <a:xfrm>
            <a:off x="530352" y="4407408"/>
            <a:ext cx="109728" cy="109728"/>
          </a:xfrm>
          <a:prstGeom prst="ellipse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9584" y="4352544"/>
            <a:ext cx="221284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F2A37"/>
                </a:solidFill>
                <a:latin typeface="Aptos"/>
              </a:rPr>
              <a:t>Genere code/IaC/tests</a:t>
            </a:r>
          </a:p>
        </p:txBody>
      </p:sp>
      <p:sp>
        <p:nvSpPr>
          <p:cNvPr id="26" name="Oval 25"/>
          <p:cNvSpPr/>
          <p:nvPr/>
        </p:nvSpPr>
        <p:spPr>
          <a:xfrm>
            <a:off x="3346704" y="4407408"/>
            <a:ext cx="109728" cy="109728"/>
          </a:xfrm>
          <a:prstGeom prst="ellipse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5936" y="4352544"/>
            <a:ext cx="221284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F2A37"/>
                </a:solidFill>
                <a:latin typeface="Aptos"/>
              </a:rPr>
              <a:t>Prepare la migration progressive</a:t>
            </a:r>
          </a:p>
        </p:txBody>
      </p:sp>
      <p:sp>
        <p:nvSpPr>
          <p:cNvPr id="28" name="Oval 27"/>
          <p:cNvSpPr/>
          <p:nvPr/>
        </p:nvSpPr>
        <p:spPr>
          <a:xfrm>
            <a:off x="6163056" y="4407408"/>
            <a:ext cx="109728" cy="109728"/>
          </a:xfrm>
          <a:prstGeom prst="ellipse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2344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8088"/>
                </a:solidFill>
                <a:latin typeface="Aptos"/>
              </a:rPr>
              <a:t>Challenge #07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46520" y="457200"/>
            <a:ext cx="21945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5C6978"/>
                </a:solidFill>
                <a:latin typeface="Aptos"/>
              </a:rPr>
              <a:t>TRANSVERSE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621792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22031"/>
                </a:solidFill>
                <a:latin typeface="Aptos"/>
              </a:rPr>
              <a:t>Simplifier la gestion budgetaire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426464"/>
            <a:ext cx="6172200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0" b="0">
                <a:solidFill>
                  <a:srgbClr val="1F2A37"/>
                </a:solidFill>
                <a:latin typeface="Aptos"/>
              </a:rPr>
              <a:t>Mettre une boucle FinOps continue: allocation, prevision, alertes, optimisation et arbitrage partage avec les equipes.</a:t>
            </a:r>
          </a:p>
        </p:txBody>
      </p:sp>
      <p:sp>
        <p:nvSpPr>
          <p:cNvPr id="7" name="Oval 6"/>
          <p:cNvSpPr/>
          <p:nvPr/>
        </p:nvSpPr>
        <p:spPr>
          <a:xfrm>
            <a:off x="7543800" y="749808"/>
            <a:ext cx="841248" cy="841248"/>
          </a:xfrm>
          <a:prstGeom prst="ellipse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08392" y="969264"/>
            <a:ext cx="5029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22031"/>
                </a:solidFill>
                <a:latin typeface="Aptos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267712"/>
            <a:ext cx="20116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22031"/>
                </a:solidFill>
                <a:latin typeface="Aptos"/>
              </a:rPr>
              <a:t>Agents a mobiliser</a:t>
            </a:r>
          </a:p>
        </p:txBody>
      </p:sp>
      <p:sp>
        <p:nvSpPr>
          <p:cNvPr id="10" name="Rounded Rectangle 9">
            <a:hlinkClick r:id="rId2"/>
          </p:cNvPr>
          <p:cNvSpPr/>
          <p:nvPr/>
        </p:nvSpPr>
        <p:spPr>
          <a:xfrm>
            <a:off x="530352" y="2633472"/>
            <a:ext cx="3520440" cy="347472"/>
          </a:xfrm>
          <a:prstGeom prst="roundRect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750" b="1">
                <a:solidFill>
                  <a:srgbClr val="122031"/>
                </a:solidFill>
                <a:latin typeface="Aptos"/>
              </a:rPr>
              <a:t>Microsoft Copilot for Azure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008376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1" u="sng">
                <a:solidFill>
                  <a:srgbClr val="0061A1"/>
                </a:solidFill>
                <a:latin typeface="Aptos"/>
                <a:hlinkClick r:id="rId2"/>
              </a:rPr>
              <a:t>Demo</a:t>
            </a:r>
          </a:p>
        </p:txBody>
      </p:sp>
      <p:sp>
        <p:nvSpPr>
          <p:cNvPr id="12" name="Rounded Rectangle 11">
            <a:hlinkClick r:id="rId3"/>
          </p:cNvPr>
          <p:cNvSpPr/>
          <p:nvPr/>
        </p:nvSpPr>
        <p:spPr>
          <a:xfrm>
            <a:off x="530352" y="3246120"/>
            <a:ext cx="3520440" cy="347472"/>
          </a:xfrm>
          <a:prstGeom prst="roundRect">
            <a:avLst/>
          </a:prstGeom>
          <a:solidFill>
            <a:srgbClr val="D6E69E"/>
          </a:solidFill>
          <a:ln>
            <a:solidFill>
              <a:srgbClr val="D6E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750" b="1">
                <a:solidFill>
                  <a:srgbClr val="122031"/>
                </a:solidFill>
                <a:latin typeface="Aptos"/>
              </a:rPr>
              <a:t>FinOps toolkit reporting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621024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1" u="sng">
                <a:solidFill>
                  <a:srgbClr val="0061A1"/>
                </a:solidFill>
                <a:latin typeface="Aptos"/>
                <a:hlinkClick r:id="rId3"/>
              </a:rPr>
              <a:t>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67712"/>
            <a:ext cx="1828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22031"/>
                </a:solidFill>
                <a:latin typeface="Aptos"/>
              </a:rPr>
              <a:t>Parcours simple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2651760"/>
            <a:ext cx="884681" cy="566928"/>
          </a:xfrm>
          <a:prstGeom prst="roundRect">
            <a:avLst/>
          </a:prstGeom>
          <a:solidFill>
            <a:srgbClr val="D6E69E"/>
          </a:solidFill>
          <a:ln>
            <a:solidFill>
              <a:srgbClr val="D6E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Couts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456681" y="2852928"/>
            <a:ext cx="128016" cy="146304"/>
          </a:xfrm>
          <a:prstGeom prst="rightArrow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12129" y="2651760"/>
            <a:ext cx="884681" cy="566928"/>
          </a:xfrm>
          <a:prstGeom prst="roundRect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Anomalies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451092" y="2852928"/>
            <a:ext cx="128016" cy="146304"/>
          </a:xfrm>
          <a:prstGeom prst="rightArrow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06540" y="2651760"/>
            <a:ext cx="884681" cy="566928"/>
          </a:xfrm>
          <a:prstGeom prst="roundRect">
            <a:avLst/>
          </a:prstGeom>
          <a:solidFill>
            <a:srgbClr val="D6E69E"/>
          </a:solidFill>
          <a:ln>
            <a:solidFill>
              <a:srgbClr val="D6E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Budget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445502" y="2852928"/>
            <a:ext cx="128016" cy="146304"/>
          </a:xfrm>
          <a:prstGeom prst="rightArrow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600950" y="2651760"/>
            <a:ext cx="884681" cy="566928"/>
          </a:xfrm>
          <a:prstGeom prst="roundRect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3977639"/>
            <a:ext cx="27432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22031"/>
                </a:solidFill>
                <a:latin typeface="Aptos"/>
              </a:rPr>
              <a:t>Ce que l'agent aide a faire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352544"/>
            <a:ext cx="221284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F2A37"/>
                </a:solidFill>
                <a:latin typeface="Aptos"/>
              </a:rPr>
              <a:t>Explique les ecarts</a:t>
            </a:r>
          </a:p>
        </p:txBody>
      </p:sp>
      <p:sp>
        <p:nvSpPr>
          <p:cNvPr id="24" name="Oval 23"/>
          <p:cNvSpPr/>
          <p:nvPr/>
        </p:nvSpPr>
        <p:spPr>
          <a:xfrm>
            <a:off x="530352" y="4407408"/>
            <a:ext cx="109728" cy="109728"/>
          </a:xfrm>
          <a:prstGeom prst="ellipse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9584" y="4352544"/>
            <a:ext cx="221284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F2A37"/>
                </a:solidFill>
                <a:latin typeface="Aptos"/>
              </a:rPr>
              <a:t>Prepare le reporting</a:t>
            </a:r>
          </a:p>
        </p:txBody>
      </p:sp>
      <p:sp>
        <p:nvSpPr>
          <p:cNvPr id="26" name="Oval 25"/>
          <p:cNvSpPr/>
          <p:nvPr/>
        </p:nvSpPr>
        <p:spPr>
          <a:xfrm>
            <a:off x="3346704" y="4407408"/>
            <a:ext cx="109728" cy="109728"/>
          </a:xfrm>
          <a:prstGeom prst="ellipse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5936" y="4352544"/>
            <a:ext cx="221284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F2A37"/>
                </a:solidFill>
                <a:latin typeface="Aptos"/>
              </a:rPr>
              <a:t>Suggere les optimisations</a:t>
            </a:r>
          </a:p>
        </p:txBody>
      </p:sp>
      <p:sp>
        <p:nvSpPr>
          <p:cNvPr id="28" name="Oval 27"/>
          <p:cNvSpPr/>
          <p:nvPr/>
        </p:nvSpPr>
        <p:spPr>
          <a:xfrm>
            <a:off x="6163056" y="4407408"/>
            <a:ext cx="109728" cy="109728"/>
          </a:xfrm>
          <a:prstGeom prst="ellipse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411480"/>
            <a:ext cx="475488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2031"/>
                </a:solidFill>
                <a:latin typeface="Aptos"/>
              </a:rPr>
              <a:t>Lecture transversale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43000"/>
            <a:ext cx="1115568" cy="384048"/>
          </a:xfrm>
          <a:prstGeom prst="rect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1234440"/>
            <a:ext cx="8686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122031"/>
                </a:solidFill>
                <a:latin typeface="Aptos"/>
              </a:rPr>
              <a:t>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93392" y="1207008"/>
            <a:ext cx="62179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Aptos"/>
              </a:rPr>
              <a:t>Security Copilot / Observability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01368"/>
            <a:ext cx="1115568" cy="384048"/>
          </a:xfrm>
          <a:prstGeom prst="rect">
            <a:avLst/>
          </a:prstGeom>
          <a:solidFill>
            <a:srgbClr val="D6E69E"/>
          </a:solidFill>
          <a:ln>
            <a:solidFill>
              <a:srgbClr val="D6E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892807"/>
            <a:ext cx="8686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122031"/>
                </a:solidFill>
                <a:latin typeface="Aptos"/>
              </a:rPr>
              <a:t>Secure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93392" y="1865376"/>
            <a:ext cx="62179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Aptos"/>
              </a:rPr>
              <a:t>Purview Copilot / Fabric Copilot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459736"/>
            <a:ext cx="1115568" cy="384048"/>
          </a:xfrm>
          <a:prstGeom prst="rect">
            <a:avLst/>
          </a:prstGeom>
          <a:solidFill>
            <a:srgbClr val="F2977E"/>
          </a:solidFill>
          <a:ln>
            <a:solidFill>
              <a:srgbClr val="F2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551176"/>
            <a:ext cx="8686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122031"/>
                </a:solidFill>
                <a:latin typeface="Aptos"/>
              </a:rPr>
              <a:t>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93392" y="2523744"/>
            <a:ext cx="62179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Aptos"/>
              </a:rPr>
              <a:t>GitHub Copilot agent mode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118104"/>
            <a:ext cx="1115568" cy="384048"/>
          </a:xfrm>
          <a:prstGeom prst="rect">
            <a:avLst/>
          </a:prstGeom>
          <a:solidFill>
            <a:srgbClr val="F6BE58"/>
          </a:solidFill>
          <a:ln>
            <a:solidFill>
              <a:srgbClr val="F6B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209544"/>
            <a:ext cx="8686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122031"/>
                </a:solidFill>
                <a:latin typeface="Aptos"/>
              </a:rPr>
              <a:t>Move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93392" y="3182112"/>
            <a:ext cx="62179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Aptos"/>
              </a:rPr>
              <a:t>Azure Copilot migration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776472"/>
            <a:ext cx="1115568" cy="384048"/>
          </a:xfrm>
          <a:prstGeom prst="rect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3867911"/>
            <a:ext cx="8686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122031"/>
                </a:solidFill>
                <a:latin typeface="Aptos"/>
              </a:rPr>
              <a:t>Optimize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93392" y="3840480"/>
            <a:ext cx="62179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Aptos"/>
              </a:rPr>
              <a:t>Copilot for Azure / FinOps reporting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572000"/>
            <a:ext cx="18288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22031"/>
                </a:solidFill>
                <a:latin typeface="Aptos"/>
              </a:rPr>
              <a:t>Principe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498848"/>
            <a:ext cx="621792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978"/>
                </a:solidFill>
                <a:latin typeface="Aptos"/>
              </a:rPr>
              <a:t>Choisir l'agent qui reduit le plus vite l'effort humain: comprendre, prioriser, produire ou suivre.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04672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22031"/>
                </a:solidFill>
                <a:latin typeface="Aptos"/>
              </a:rPr>
              <a:t>Sources et diagrammes Microsoft a consulter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80467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6978"/>
                </a:solidFill>
                <a:latin typeface="Aptos"/>
              </a:rPr>
              <a:t>learn.microsoft.com/copilot/security/microsoft-security-copilot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52728"/>
            <a:ext cx="80467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6978"/>
                </a:solidFill>
                <a:latin typeface="Aptos"/>
              </a:rPr>
              <a:t>learn.microsoft.com/azure/sentinel/overview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45336"/>
            <a:ext cx="80467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6978"/>
                </a:solidFill>
                <a:latin typeface="Aptos"/>
              </a:rPr>
              <a:t>learn.microsoft.com/azure/azure-monitor/fundamentals/overview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37943"/>
            <a:ext cx="80467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6978"/>
                </a:solidFill>
                <a:latin typeface="Aptos"/>
              </a:rPr>
              <a:t>learn.microsoft.com/purview/purview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30552"/>
            <a:ext cx="80467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6978"/>
                </a:solidFill>
                <a:latin typeface="Aptos"/>
              </a:rPr>
              <a:t>learn.microsoft.com/fabric/fundamentals/microsoft-fabric-overview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23160"/>
            <a:ext cx="80467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6978"/>
                </a:solidFill>
                <a:latin typeface="Aptos"/>
              </a:rPr>
              <a:t>learn.microsoft.com/azure/defender-for-cloud/defender-for-cloud-introduction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715768"/>
            <a:ext cx="80467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6978"/>
                </a:solidFill>
                <a:latin typeface="Aptos"/>
              </a:rPr>
              <a:t>learn.microsoft.com/microsoft-365/copilot/microsoft-365-copilot-overview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008376"/>
            <a:ext cx="80467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6978"/>
                </a:solidFill>
                <a:latin typeface="Aptos"/>
              </a:rPr>
              <a:t>learn.microsoft.com/azure/migrate/migrate-services-overview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300984"/>
            <a:ext cx="80467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6978"/>
                </a:solidFill>
                <a:latin typeface="Aptos"/>
              </a:rPr>
              <a:t>learn.microsoft.com/azure/cloud-adoption-framework/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593591"/>
            <a:ext cx="80467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6978"/>
                </a:solidFill>
                <a:latin typeface="Aptos"/>
              </a:rPr>
              <a:t>docs.github.com/copilot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886200"/>
            <a:ext cx="80467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6978"/>
                </a:solidFill>
                <a:latin typeface="Aptos"/>
              </a:rPr>
              <a:t>learn.microsoft.com/azure/cost-management-billing/costs/quick-acm-cost-analysis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178808"/>
            <a:ext cx="80467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6978"/>
                </a:solidFill>
                <a:latin typeface="Aptos"/>
              </a:rPr>
              <a:t>learn.microsoft.com/cloud-computing/finops/toolkit/finops-toolkit-overview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590288"/>
            <a:ext cx="804672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008088"/>
                </a:solidFill>
                <a:latin typeface="Aptos"/>
              </a:rPr>
              <a:t>Les schemas inclus sont des versions simplifiees inspirees des architectures de reference, pas des captures de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